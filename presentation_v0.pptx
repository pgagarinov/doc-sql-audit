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488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ИИ-аудит процесса</a:t>
            </a:r>
            <a:br/>
            <a:r>
              <a:t>заключения договоров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91840"/>
            <a:ext cx="2743200" cy="50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0C8D4"/>
                </a:solidFill>
                <a:latin typeface="Calibri"/>
              </a:defRPr>
            </a:pPr>
            <a:r>
              <a:t>Автоматический поиск нарушений в закупках</a:t>
            </a:r>
            <a:br/>
            <a:r>
              <a:t>с помощью Claude + MCP +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92B"/>
                </a:solidFill>
                <a:latin typeface="Calibri"/>
              </a:defRPr>
            </a:pPr>
            <a:r>
              <a:t>100 000 договоров  |  500 поставщиков  |  ~17,5 млрд руб.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Особенности метаданных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100 000 договоров: 50 000 основных + 50 000 дополнительных соглашений (ДС)</a:t>
            </a:r>
          </a:p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18 различных текстовых форматов наименования ДС</a:t>
            </a:r>
          </a:p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Нет FK-ссылки от ДС к основному договору — связь только через текст</a:t>
            </a:r>
          </a:p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500 уникальных поставщиков, 5 000 протоколов</a:t>
            </a:r>
          </a:p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Общая сумма: ~17,5 млрд руб.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92B"/>
                </a:solidFill>
                <a:latin typeface="Calibri"/>
              </a:defRPr>
            </a:pPr>
            <a:r>
              <a:t>Примеры форматов ДС: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8BDB6A"/>
                </a:solidFill>
                <a:latin typeface="Calibri"/>
              </a:defRPr>
            </a:pPr>
            <a:r>
              <a:t>"доп. соглашение к договору {N}"     "д.с. к дог. {N}"</a:t>
            </a:r>
          </a:p>
          <a:p>
            <a:pPr>
              <a:spcAft>
                <a:spcPts val="600"/>
              </a:spcAft>
              <a:defRPr sz="1600">
                <a:solidFill>
                  <a:srgbClr val="8BDB6A"/>
                </a:solidFill>
                <a:latin typeface="Calibri"/>
              </a:defRPr>
            </a:pPr>
            <a:r>
              <a:t>"ДС №1 к дог. {N}"                   "дс к договору {N}"</a:t>
            </a:r>
          </a:p>
          <a:p>
            <a:pPr>
              <a:spcAft>
                <a:spcPts val="600"/>
              </a:spcAft>
              <a:defRPr sz="1600">
                <a:solidFill>
                  <a:srgbClr val="8BDB6A"/>
                </a:solidFill>
                <a:latin typeface="Calibri"/>
              </a:defRPr>
            </a:pPr>
            <a:r>
              <a:t>"дополнительное соглашение к договору {N}"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Архитектура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2377440" cy="1828800"/>
          </a:xfrm>
          <a:prstGeom prst="roundRect">
            <a:avLst/>
          </a:prstGeom>
          <a:solidFill>
            <a:srgbClr val="22385C"/>
          </a:solidFill>
          <a:ln w="12700">
            <a:solidFill>
              <a:srgbClr val="3A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tlCol="0" anchor="ctr"/>
          <a:lstStyle/>
          <a:p>
            <a:pPr algn="ctr">
              <a:defRPr sz="2200" b="1">
                <a:solidFill>
                  <a:srgbClr val="E8792B"/>
                </a:solidFill>
                <a:latin typeface="Calibri"/>
              </a:defRPr>
            </a:pPr>
            <a:r>
              <a:t>Аудитор</a:t>
            </a:r>
          </a:p>
          <a:p>
            <a:pPr algn="ctr">
              <a:spcBef>
                <a:spcPts val="1200"/>
              </a:spcBef>
              <a:defRPr sz="1600">
                <a:solidFill>
                  <a:srgbClr val="C0C8D4"/>
                </a:solidFill>
                <a:latin typeface="Calibri"/>
              </a:defRPr>
            </a:pPr>
            <a:r>
              <a:t>Формулирует</a:t>
            </a:r>
            <a:br/>
            <a:r>
              <a:t>гипотезу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79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286000"/>
            <a:ext cx="2377440" cy="1828800"/>
          </a:xfrm>
          <a:prstGeom prst="roundRect">
            <a:avLst/>
          </a:prstGeom>
          <a:solidFill>
            <a:srgbClr val="22385C"/>
          </a:solidFill>
          <a:ln w="25400">
            <a:solidFill>
              <a:srgbClr val="E8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tlCol="0" anchor="ctr"/>
          <a:lstStyle/>
          <a:p>
            <a:pPr algn="ctr">
              <a:defRPr sz="2200" b="1">
                <a:solidFill>
                  <a:srgbClr val="E8792B"/>
                </a:solidFill>
                <a:latin typeface="Calibri"/>
              </a:defRPr>
            </a:pPr>
            <a:r>
              <a:t>Claude</a:t>
            </a:r>
          </a:p>
          <a:p>
            <a:pPr algn="ctr">
              <a:spcBef>
                <a:spcPts val="1200"/>
              </a:spcBef>
              <a:defRPr sz="1600">
                <a:solidFill>
                  <a:srgbClr val="C0C8D4"/>
                </a:solidFill>
                <a:latin typeface="Calibri"/>
              </a:defRPr>
            </a:pPr>
            <a:r>
              <a:t>Генерирует</a:t>
            </a:r>
            <a:br/>
            <a:r>
              <a:t>SQL-запросы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79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2377440" cy="1828800"/>
          </a:xfrm>
          <a:prstGeom prst="roundRect">
            <a:avLst/>
          </a:prstGeom>
          <a:solidFill>
            <a:srgbClr val="22385C"/>
          </a:solidFill>
          <a:ln w="12700">
            <a:solidFill>
              <a:srgbClr val="3A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tlCol="0" anchor="ctr"/>
          <a:lstStyle/>
          <a:p>
            <a:pPr algn="ctr">
              <a:defRPr sz="2200" b="1">
                <a:solidFill>
                  <a:srgbClr val="E8792B"/>
                </a:solidFill>
                <a:latin typeface="Calibri"/>
              </a:defRPr>
            </a:pPr>
            <a:r>
              <a:t>MCP-сервер</a:t>
            </a:r>
          </a:p>
          <a:p>
            <a:pPr algn="ctr">
              <a:spcBef>
                <a:spcPts val="1200"/>
              </a:spcBef>
              <a:defRPr sz="1600">
                <a:solidFill>
                  <a:srgbClr val="C0C8D4"/>
                </a:solidFill>
                <a:latin typeface="Calibri"/>
              </a:defRPr>
            </a:pPr>
            <a:r>
              <a:t>genai-toolbox</a:t>
            </a:r>
            <a:br/>
            <a:r>
              <a:t>--prebuilt postgres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3108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79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286000"/>
            <a:ext cx="2377440" cy="1828800"/>
          </a:xfrm>
          <a:prstGeom prst="roundRect">
            <a:avLst/>
          </a:prstGeom>
          <a:solidFill>
            <a:srgbClr val="22385C"/>
          </a:solidFill>
          <a:ln w="12700">
            <a:solidFill>
              <a:srgbClr val="3A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tlCol="0" anchor="ctr"/>
          <a:lstStyle/>
          <a:p>
            <a:pPr algn="ctr">
              <a:defRPr sz="2200" b="1">
                <a:solidFill>
                  <a:srgbClr val="E8792B"/>
                </a:solidFill>
                <a:latin typeface="Calibri"/>
              </a:defRPr>
            </a:pPr>
            <a:r>
              <a:t>PostgreSQL</a:t>
            </a:r>
          </a:p>
          <a:p>
            <a:pPr algn="ctr">
              <a:spcBef>
                <a:spcPts val="1200"/>
              </a:spcBef>
              <a:defRPr sz="1600">
                <a:solidFill>
                  <a:srgbClr val="C0C8D4"/>
                </a:solidFill>
                <a:latin typeface="Calibri"/>
              </a:defRPr>
            </a:pPr>
            <a:r>
              <a:t>100K договоров</a:t>
            </a:r>
            <a:br/>
            <a:r>
              <a:t>pg_trgm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8D4"/>
                </a:solidFill>
                <a:latin typeface="Calibri"/>
              </a:defRPr>
            </a:pPr>
            <a:r>
              <a:t>Claude анализирует схему БД через MCP, самостоятельно формирует SQL-запросы и возвращает аудитору структурированные результаты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Структура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Таблица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Столбцы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contracts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contract_id, contract_number, amount,</a:t>
                      </a:r>
                      <a:br/>
                      <a:r>
                        <a:t>contract_type, supplier, subject, protocol_id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protocols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protocol_id, protocol_number, protocol_date,</a:t>
                      </a:r>
                      <a:br/>
                      <a:r>
                        <a:t>approved_amount, protocol_text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approvals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approval_id, contract_id, fin_director,</a:t>
                      </a:r>
                      <a:br/>
                      <a:r>
                        <a:t>lawyer, security, procurement_head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0C8D4"/>
                </a:solidFill>
                <a:latin typeface="Calibri"/>
              </a:defRPr>
            </a:pPr>
            <a:r>
              <a:t>Расширение pg_trgm: нечёткий поиск по предмету договора (similarity &gt; 0.3)</a:t>
            </a:r>
          </a:p>
          <a:p>
            <a:pPr>
              <a:spcAft>
                <a:spcPts val="600"/>
              </a:spcAft>
              <a:defRPr sz="1800">
                <a:solidFill>
                  <a:srgbClr val="C0C8D4"/>
                </a:solidFill>
                <a:latin typeface="Calibri"/>
              </a:defRPr>
            </a:pPr>
            <a:r>
              <a:t>GIN-индекс на subject для ускорения триграммных запросов</a:t>
            </a:r>
          </a:p>
          <a:p>
            <a:pPr>
              <a:spcAft>
                <a:spcPts val="600"/>
              </a:spcAft>
              <a:defRPr sz="1800">
                <a:solidFill>
                  <a:srgbClr val="C0C8D4"/>
                </a:solidFill>
                <a:latin typeface="Calibri"/>
              </a:defRPr>
            </a:pPr>
            <a:r>
              <a:t>Частичный индекс на approvals (lawyer = FALSE)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Гипотеза 1: Нестандартные договоры без согласования юриста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0C8D4"/>
                </a:solidFill>
                <a:latin typeface="Calibri"/>
              </a:defRPr>
            </a:pPr>
            <a:r>
              <a:t>Сумма группы (договор + все ДС) &gt; 10 000 руб.</a:t>
            </a:r>
          </a:p>
          <a:p>
            <a:pPr>
              <a:spcAft>
                <a:spcPts val="600"/>
              </a:spcAft>
              <a:defRPr sz="1800">
                <a:solidFill>
                  <a:srgbClr val="C0C8D4"/>
                </a:solidFill>
                <a:latin typeface="Calibri"/>
              </a:defRPr>
            </a:pPr>
            <a:r>
              <a:t>Хотя бы один договор в группе — «нестандартный»</a:t>
            </a:r>
          </a:p>
          <a:p>
            <a:pPr>
              <a:spcAft>
                <a:spcPts val="600"/>
              </a:spcAft>
              <a:defRPr sz="1800">
                <a:solidFill>
                  <a:srgbClr val="C0C8D4"/>
                </a:solidFill>
                <a:latin typeface="Calibri"/>
              </a:defRPr>
            </a:pPr>
            <a:r>
              <a:t>Хотя бы один договор в группе без одобрения юриста (lawyer = FALSE)</a:t>
            </a:r>
          </a:p>
          <a:p>
            <a:pPr>
              <a:spcAft>
                <a:spcPts val="600"/>
              </a:spcAft>
              <a:defRPr sz="1800">
                <a:solidFill>
                  <a:srgbClr val="C0C8D4"/>
                </a:solidFill>
                <a:latin typeface="Calibri"/>
              </a:defRPr>
            </a:pPr>
            <a:r>
              <a:t>Протокол НЕ содержит «разрешено согласование без юристов»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840480"/>
            <a:ext cx="2926080" cy="1828800"/>
          </a:xfrm>
          <a:prstGeom prst="roundRect">
            <a:avLst/>
          </a:prstGeom>
          <a:solidFill>
            <a:srgbClr val="22385C"/>
          </a:solidFill>
          <a:ln w="12700">
            <a:solidFill>
              <a:srgbClr val="3A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tlCol="0" anchor="ctr"/>
          <a:lstStyle/>
          <a:p>
            <a:pPr algn="ctr">
              <a:defRPr sz="3600" b="1">
                <a:solidFill>
                  <a:srgbClr val="E8792B"/>
                </a:solidFill>
                <a:latin typeface="Calibri"/>
              </a:defRPr>
            </a:pPr>
            <a:r>
              <a:t>21 204</a:t>
            </a:r>
          </a:p>
          <a:p>
            <a:pPr algn="ctr">
              <a:spcBef>
                <a:spcPts val="800"/>
              </a:spcBef>
              <a:defRPr sz="1600">
                <a:solidFill>
                  <a:srgbClr val="C0C8D4"/>
                </a:solidFill>
                <a:latin typeface="Calibri"/>
              </a:defRPr>
            </a:pPr>
            <a:r>
              <a:t>договора в группах</a:t>
            </a:r>
            <a:br/>
            <a:r>
              <a:t>с нарушениями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0" y="3749039"/>
          <a:ext cx="77724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Номер договора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Поставщик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Сумма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Тип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Договор 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ЗАО «Фомина, Новикова</a:t>
                      </a:r>
                      <a:br/>
                      <a:r>
                        <a:t>и Семенова»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202 715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нестандартный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доп. соглашение к дог. 1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ЗАО «Фомина, Новикова</a:t>
                      </a:r>
                      <a:br/>
                      <a:r>
                        <a:t>и Семенова»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121 218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нестандартный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Договор 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АО «Лазарева, Воронов</a:t>
                      </a:r>
                      <a:br/>
                      <a:r>
                        <a:t>и Шарова»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44 779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стандартный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Группировка ДС: извлечение номера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8D4"/>
                </a:solidFill>
                <a:latin typeface="Calibri"/>
              </a:defRPr>
            </a:pPr>
            <a:r>
              <a:t>Все 18 форматов ДС заканчиваются номером родительского договора.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92B"/>
                </a:solidFill>
                <a:latin typeface="Calibri"/>
              </a:defRPr>
            </a:pPr>
            <a:r>
              <a:t>Универсальный метод: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10881360" cy="1645920"/>
          </a:xfrm>
          <a:prstGeom prst="roundRect">
            <a:avLst/>
          </a:prstGeom>
          <a:solidFill>
            <a:srgbClr val="0F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800" b="0">
                <a:solidFill>
                  <a:srgbClr val="8BDB6A"/>
                </a:solidFill>
                <a:latin typeface="Consolas"/>
              </a:defRPr>
            </a:pPr>
            <a:r>
              <a:t>substring(contract_number FROM '(\d+)\s*$')</a:t>
            </a:r>
            <a:br/>
            <a:r>
              <a:t>  → извлекает последнее число из строки</a:t>
            </a:r>
            <a:br/>
            <a:br/>
            <a:r>
              <a:t>JOIN: 'Договор ' || extracted_number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92B"/>
                </a:solidFill>
                <a:latin typeface="Calibri"/>
              </a:defRPr>
            </a:pPr>
            <a:r>
              <a:t>Пример: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937760"/>
          <a:ext cx="1088136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Наименование ДС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Число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Родительский договор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"доп. соглашение к дог. 1"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→  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→  Договор 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"ДС №1 к дог. 4827"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→  4827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→  Договор 4827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"дс к 312"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→  312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→  Договор 312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Гипотеза 2: Дробление закупок (пары)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Один и тот же поставщик</a:t>
            </a:r>
          </a:p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Предметы договоров схожи: similarity(subject₁, subject₂) &gt; 0.3</a:t>
            </a:r>
          </a:p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Используется расширение pg_trgm для нечёткого сравнения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3200400" cy="1828800"/>
          </a:xfrm>
          <a:prstGeom prst="roundRect">
            <a:avLst/>
          </a:prstGeom>
          <a:solidFill>
            <a:srgbClr val="22385C"/>
          </a:solidFill>
          <a:ln w="12700">
            <a:solidFill>
              <a:srgbClr val="3A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tlCol="0" anchor="ctr"/>
          <a:lstStyle/>
          <a:p>
            <a:pPr algn="ctr">
              <a:defRPr sz="3600" b="1">
                <a:solidFill>
                  <a:srgbClr val="E8792B"/>
                </a:solidFill>
                <a:latin typeface="Calibri"/>
              </a:defRPr>
            </a:pPr>
            <a:r>
              <a:t>1 019 115</a:t>
            </a:r>
          </a:p>
          <a:p>
            <a:pPr algn="ctr">
              <a:spcBef>
                <a:spcPts val="800"/>
              </a:spcBef>
              <a:defRPr sz="1600">
                <a:solidFill>
                  <a:srgbClr val="C0C8D4"/>
                </a:solidFill>
                <a:latin typeface="Calibri"/>
              </a:defRPr>
            </a:pPr>
            <a:r>
              <a:t>подозрительных пар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200400"/>
            <a:ext cx="7315200" cy="2103120"/>
          </a:xfrm>
          <a:prstGeom prst="roundRect">
            <a:avLst/>
          </a:prstGeom>
          <a:solidFill>
            <a:srgbClr val="0F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500" b="0">
                <a:solidFill>
                  <a:srgbClr val="8BDB6A"/>
                </a:solidFill>
                <a:latin typeface="Consolas"/>
              </a:defRPr>
            </a:pPr>
            <a:r>
              <a:t>SELECT c1.contract_number, c2.contract_number,</a:t>
            </a:r>
            <a:br/>
            <a:r>
              <a:t>       c1.supplier, similarity(c1.subject, c2.subject)</a:t>
            </a:r>
            <a:br/>
            <a:r>
              <a:t>FROM contracts c1 JOIN contracts c2</a:t>
            </a:r>
            <a:br/>
            <a:r>
              <a:t>  ON c1.supplier = c2.supplier</a:t>
            </a:r>
            <a:br/>
            <a:r>
              <a:t>  AND c1.contract_id &lt; c2.contract_id</a:t>
            </a:r>
            <a:br/>
            <a:r>
              <a:t>  AND similarity(c1.subject, c2.subject) &gt; 0.3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8D4"/>
                </a:solidFill>
                <a:latin typeface="Calibri"/>
              </a:defRPr>
            </a:pPr>
            <a:r>
              <a:t>GIN-индекс на subject (gin_trgm_ops) обеспечивает приемлемую скорость на 100K записях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Гипотеза 3: Систематическое дробление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Агрегация: группировка по (поставщик, предмет)</a:t>
            </a:r>
          </a:p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Список номеров договоров через string_agg()</a:t>
            </a:r>
          </a:p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Сумма, количество договоров в каждой группе</a:t>
            </a:r>
          </a:p>
          <a:p>
            <a:pPr>
              <a:spcAft>
                <a:spcPts val="600"/>
              </a:spcAft>
              <a:defRPr sz="2000">
                <a:solidFill>
                  <a:srgbClr val="C0C8D4"/>
                </a:solidFill>
                <a:latin typeface="Calibri"/>
              </a:defRPr>
            </a:pPr>
            <a:r>
              <a:t>Сортировка по убыванию суммы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840480"/>
            <a:ext cx="3200400" cy="1828800"/>
          </a:xfrm>
          <a:prstGeom prst="roundRect">
            <a:avLst/>
          </a:prstGeom>
          <a:solidFill>
            <a:srgbClr val="22385C"/>
          </a:solidFill>
          <a:ln w="12700">
            <a:solidFill>
              <a:srgbClr val="3A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tlCol="0" anchor="ctr"/>
          <a:lstStyle/>
          <a:p>
            <a:pPr algn="ctr">
              <a:defRPr sz="3600" b="1">
                <a:solidFill>
                  <a:srgbClr val="E8792B"/>
                </a:solidFill>
                <a:latin typeface="Calibri"/>
              </a:defRPr>
            </a:pPr>
            <a:r>
              <a:t>19 801</a:t>
            </a:r>
          </a:p>
          <a:p>
            <a:pPr algn="ctr">
              <a:spcBef>
                <a:spcPts val="800"/>
              </a:spcBef>
              <a:defRPr sz="1600">
                <a:solidFill>
                  <a:srgbClr val="C0C8D4"/>
                </a:solidFill>
                <a:latin typeface="Calibri"/>
              </a:defRPr>
            </a:pPr>
            <a:r>
              <a:t>группа с признаками</a:t>
            </a:r>
            <a:br/>
            <a:r>
              <a:t>дробления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840480"/>
            <a:ext cx="3200400" cy="1828800"/>
          </a:xfrm>
          <a:prstGeom prst="roundRect">
            <a:avLst/>
          </a:prstGeom>
          <a:solidFill>
            <a:srgbClr val="22385C"/>
          </a:solidFill>
          <a:ln w="12700">
            <a:solidFill>
              <a:srgbClr val="3A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tlCol="0" anchor="ctr"/>
          <a:lstStyle/>
          <a:p>
            <a:pPr algn="ctr">
              <a:defRPr sz="3600" b="1">
                <a:solidFill>
                  <a:srgbClr val="E8792B"/>
                </a:solidFill>
                <a:latin typeface="Calibri"/>
              </a:defRPr>
            </a:pPr>
            <a:r>
              <a:t>~17,5 млрд</a:t>
            </a:r>
          </a:p>
          <a:p>
            <a:pPr algn="ctr">
              <a:spcBef>
                <a:spcPts val="800"/>
              </a:spcBef>
              <a:defRPr sz="1600">
                <a:solidFill>
                  <a:srgbClr val="C0C8D4"/>
                </a:solidFill>
                <a:latin typeface="Calibri"/>
              </a:defRPr>
            </a:pPr>
            <a:r>
              <a:t>общая сумма</a:t>
            </a:r>
            <a:br/>
            <a:r>
              <a:t>договоров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840480"/>
            <a:ext cx="3200400" cy="1828800"/>
          </a:xfrm>
          <a:prstGeom prst="roundRect">
            <a:avLst/>
          </a:prstGeom>
          <a:solidFill>
            <a:srgbClr val="22385C"/>
          </a:solidFill>
          <a:ln w="12700">
            <a:solidFill>
              <a:srgbClr val="3A4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28600" rtlCol="0" anchor="ctr"/>
          <a:lstStyle/>
          <a:p>
            <a:pPr algn="ctr">
              <a:defRPr sz="3600" b="1">
                <a:solidFill>
                  <a:srgbClr val="E8792B"/>
                </a:solidFill>
                <a:latin typeface="Calibri"/>
              </a:defRPr>
            </a:pPr>
            <a:r>
              <a:t>500</a:t>
            </a:r>
          </a:p>
          <a:p>
            <a:pPr algn="ctr">
              <a:spcBef>
                <a:spcPts val="800"/>
              </a:spcBef>
              <a:defRPr sz="1600">
                <a:solidFill>
                  <a:srgbClr val="C0C8D4"/>
                </a:solidFill>
                <a:latin typeface="Calibri"/>
              </a:defRPr>
            </a:pPr>
            <a:r>
              <a:t>поставщиков</a:t>
            </a:r>
            <a:br/>
            <a:r>
              <a:t>в анализе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Итоги аудита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Гипотеза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Описание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Результат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Нестандартные без юриста</a:t>
                      </a:r>
                      <a:br/>
                      <a:r>
                        <a:t>(группы договор + ДС)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21 204 договора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Дробление закупок</a:t>
                      </a:r>
                      <a:br/>
                      <a:r>
                        <a:t>(пары со схожими предметами)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1 019 115 пар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Систематическое дробление</a:t>
                      </a:r>
                      <a:br/>
                      <a:r>
                        <a:t>(агрегация поставщик × предмет)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19 801 группа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8D4"/>
                </a:solidFill>
                <a:latin typeface="Calibri"/>
              </a:defRPr>
            </a:pPr>
            <a:r>
              <a:t>Все три гипотезы проверены автоматически: аудитор формулирует вопрос на естественном языке → Claude генерирует SQL → MCP-сервер выполняет запрос → результат возвращается аудитору.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Преимущества подхода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92B"/>
                </a:solidFill>
                <a:latin typeface="Calibri"/>
              </a:defRPr>
            </a:pPr>
            <a:r>
              <a:t>Масштабируемость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0C8D4"/>
                </a:solidFill>
                <a:latin typeface="Calibri"/>
              </a:defRPr>
            </a:pPr>
            <a:r>
              <a:t>100K+ договоров анализируются за секунды. Легко масштабируется на миллионы записей.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92B"/>
                </a:solidFill>
                <a:latin typeface="Calibri"/>
              </a:defRPr>
            </a:pPr>
            <a:r>
              <a:t>Объяснимость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0C8D4"/>
                </a:solidFill>
                <a:latin typeface="Calibri"/>
              </a:defRPr>
            </a:pPr>
            <a:r>
              <a:t>Каждый результат подкреплён конкретным SQL-запросом. Аудитор видит логику и может проверить.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92B"/>
                </a:solidFill>
                <a:latin typeface="Calibri"/>
              </a:defRPr>
            </a:pPr>
            <a:r>
              <a:t>Гибкость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0C8D4"/>
                </a:solidFill>
                <a:latin typeface="Calibri"/>
              </a:defRPr>
            </a:pPr>
            <a:r>
              <a:t>Новые гипотезы формулируются на естественном языке. Не нужно программировать — Claude адаптируется.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92B"/>
                </a:solidFill>
                <a:latin typeface="Calibri"/>
              </a:defRPr>
            </a:pPr>
            <a:r>
              <a:t>Динамическое исследование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0C8D4"/>
                </a:solidFill>
                <a:latin typeface="Calibri"/>
              </a:defRPr>
            </a:pPr>
            <a:r>
              <a:t>Claude самостоятельно изучает схему БД, подбирает JOIN и WHERE-условия.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Демо: результат запроса — дробление закупок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2286000" cy="508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8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№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Поставщик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Номера договоров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Сумма, руб.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Кол-во</a:t>
                      </a:r>
                    </a:p>
                  </a:txBody>
                  <a:tcPr anchor="ctr">
                    <a:solidFill>
                      <a:srgbClr val="E87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ООО «Логист»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Договор 128, Договор 4501, Договор 9823, дс к дог. 128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2 450 300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ЗАО «Снаб»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Договор 512, Договор 7744, доп. соглашение к дог. 512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1 870 000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АО «Техно»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Договор 3901, Договор 3902, ДС №1 к дог. 3901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1 340 500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ИП Иванов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Договор 221, Договор 6680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980 200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ООО «Сервис»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Договор 1055, Договор 1056, Договор 1057, дс к 1055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875 100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ЗАО «Альфа»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Договор 8801, Договор 8802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720 400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C0C8D4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3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8D4"/>
                </a:solidFill>
                <a:latin typeface="Calibri"/>
              </a:defRPr>
            </a:pPr>
            <a:r>
              <a:t>Таблица сгенерирована Claude автоматически по запросу: «Покажи поставщиков с признаками дробления закупок»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929</Words>
  <Application>Microsoft Macintosh PowerPoint</Application>
  <PresentationFormat>Widescreen</PresentationFormat>
  <Paragraphs>157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Gagarinov</cp:lastModifiedBy>
  <cp:revision>1</cp:revision>
  <dcterms:created xsi:type="dcterms:W3CDTF">2013-01-27T09:14:16Z</dcterms:created>
  <dcterms:modified xsi:type="dcterms:W3CDTF">2026-03-01T15:04:22Z</dcterms:modified>
  <cp:category/>
</cp:coreProperties>
</file>