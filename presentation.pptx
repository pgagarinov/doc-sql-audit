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view3D>
      <c:rotX val="30"/>
      <c:rotY val="0"/>
      <c:perspective val="30"/>
    </c:view3D>
    <c:autoTitleDeleted val="1"/>
    <c:plotArea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Договоры</c:v>
                </c:pt>
              </c:strCache>
            </c:strRef>
          </c:tx>
          <c:dPt>
            <c:idx val="0"/>
            <c:spPr>
              <a:solidFill>
                <a:srgbClr val="E57373"/>
              </a:solidFill>
            </c:spPr>
          </c:dPt>
          <c:dPt>
            <c:idx val="1"/>
            <c:spPr>
              <a:solidFill>
                <a:srgbClr val="66BB6A"/>
              </a:solidFill>
            </c:spPr>
          </c:dPt>
          <c:cat>
            <c:strRef>
              <c:f>Sheet1!$A$2:$A$3</c:f>
              <c:strCache>
                <c:ptCount val="2"/>
                <c:pt idx="0">
                  <c:v>С нарушениями (21 204)</c:v>
                </c:pt>
                <c:pt idx="1">
                  <c:v>Без нарушений (78 796)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21204</c:v>
                </c:pt>
                <c:pt idx="1">
                  <c:v>78796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B5E20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B5E20"/>
                </a:solidFill>
                <a:latin typeface="Calibri"/>
              </a:defRPr>
            </a:pPr>
            <a:r>
              <a:t>ИИ-аудит процесса</a:t>
            </a:r>
            <a:br/>
            <a:r>
              <a:t>заключения договоров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108960"/>
            <a:ext cx="27432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7474F"/>
                </a:solidFill>
                <a:latin typeface="Calibri"/>
              </a:defRPr>
            </a:pPr>
            <a:r>
              <a:t>Автоматический поиск нарушений на естественном языке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100 000 договоров  ·  500 поставщиков  ·  ~17,5 млрд руб.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Почему ручной аудит не справляется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100 000 договоров — невозможно проверить вручную</a:t>
            </a:r>
          </a:p>
          <a:p>
            <a:pPr>
              <a:spcAft>
                <a:spcPts val="600"/>
              </a:spcAft>
              <a:defRPr sz="22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18 форматов доп. соглашений без единой структуры</a:t>
            </a:r>
          </a:p>
          <a:p>
            <a:pPr>
              <a:spcAft>
                <a:spcPts val="600"/>
              </a:spcAft>
              <a:defRPr sz="22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Сложные связи между документами, протоколами, согласованиями</a:t>
            </a:r>
          </a:p>
          <a:p>
            <a:pPr>
              <a:spcAft>
                <a:spcPts val="600"/>
              </a:spcAft>
              <a:defRPr sz="22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Нужен аудитор + программист + время = дорого и медленно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100 000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договоров</a:t>
            </a:r>
            <a:br/>
            <a:r>
              <a:t>для проверки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18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форматов</a:t>
            </a:r>
            <a:br/>
            <a:r>
              <a:t>доп. соглашений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41148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таблицы</a:t>
            </a:r>
            <a:br/>
            <a:r>
              <a:t>со связями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Как это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👤  Аудитор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2000">
                <a:solidFill>
                  <a:srgbClr val="FFFFFF"/>
                </a:solidFill>
                <a:latin typeface="Calibri"/>
              </a:defRPr>
            </a:pPr>
            <a:r>
              <a:t>Найди группы нестандартных договоров свыше 10 000 руб.</a:t>
            </a:r>
            <a:br/>
            <a:r>
              <a:t>без согласования юриста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383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🤖  Система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657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2000">
                <a:solidFill>
                  <a:srgbClr val="1B5E20"/>
                </a:solidFill>
                <a:latin typeface="Calibri"/>
              </a:defRPr>
            </a:pPr>
            <a:r>
              <a:t>Найдено 21 204 договора в 7 063 группах с нарушениями.</a:t>
            </a:r>
            <a:br/>
            <a:r>
              <a:t>Общая сумма: 3,8 млрд руб. Вот первые результаты: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Без SQL.  Без программирования.  Без ожидания.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Демо: запрос →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👤  Запрос аудитора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731520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1700">
                <a:solidFill>
                  <a:srgbClr val="FFFFFF"/>
                </a:solidFill>
                <a:latin typeface="Calibri"/>
              </a:defRPr>
            </a:pPr>
            <a:r>
              <a:t>Покажи поставщиков с признаками дробления закупок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2423160"/>
          <a:ext cx="10972800" cy="3840480"/>
        </p:xfrm>
        <a:graphic>
          <a:graphicData uri="http://schemas.openxmlformats.org/drawingml/2006/table">
            <a:tbl>
              <a:tblPr firstRow="0" bandRow="0" lastRow="0">
                <a:tableStyleId>{5C22544A-7EE6-4342-B048-85BDC9FD1C3A}</a:tableStyleId>
              </a:tblPr>
              <a:tblGrid>
                <a:gridCol w="457200"/>
                <a:gridCol w="1554480"/>
                <a:gridCol w="2286000"/>
                <a:gridCol w="4114800"/>
                <a:gridCol w="14630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№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Поставщик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Предмет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Номера договоров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Сумма, руб.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Кол-во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ООО «Логист»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канцтоваров,</a:t>
                      </a:r>
                      <a:br/>
                      <a:r>
                        <a:t>поставка бумаги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128, Договор 4501,</a:t>
                      </a:r>
                      <a:br/>
                      <a:r>
                        <a:t>Договор 9823, дс к дог. 128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2 450 300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ЗАО «Снаб»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компьютерной</a:t>
                      </a:r>
                      <a:br/>
                      <a:r>
                        <a:t>техники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512, Договор 7744,</a:t>
                      </a:r>
                      <a:br/>
                      <a:r>
                        <a:t>доп. соглашение к дог. 512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1 870 000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АО «Техно»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серверного</a:t>
                      </a:r>
                      <a:br/>
                      <a:r>
                        <a:t>оборудования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3901, Договор 3902,</a:t>
                      </a:r>
                      <a:br/>
                      <a:r>
                        <a:t>ДС №1 к дог. 3901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1 340 500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ИП Иванов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Услуги по ремонту</a:t>
                      </a:r>
                      <a:br/>
                      <a:r>
                        <a:t>автотранспорта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221, Договор 6680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980 200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ООО «Сервис»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Оказание клининговых</a:t>
                      </a:r>
                      <a:br/>
                      <a:r>
                        <a:t>услуг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1055, Договор 1056,</a:t>
                      </a:r>
                      <a:br/>
                      <a:r>
                        <a:t>Договор 1057, дс к 1055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875 100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ЗАО «Альфа»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офисной</a:t>
                      </a:r>
                      <a:br/>
                      <a:r>
                        <a:t>мебели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8801, Договор 8802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720 400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55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07D8B"/>
                </a:solidFill>
                <a:latin typeface="Calibri"/>
              </a:defRPr>
            </a:pPr>
            <a:r>
              <a:t>Система сама находит связанные договоры, группирует по поставщикам и сортирует по сумме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Проверка 1: Нестандартные без юриста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👤  Запрос аудитора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868680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1700">
                <a:solidFill>
                  <a:srgbClr val="FFFFFF"/>
                </a:solidFill>
                <a:latin typeface="Calibri"/>
              </a:defRPr>
            </a:pPr>
            <a:r>
              <a:t>Найди группы нестандартных договоров без согласования юриста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2004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21 204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договора в группах</a:t>
            </a:r>
            <a:br/>
            <a:r>
              <a:t>с нарушениями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Что проверяет система: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Группирует ДС с основным договором автоматически</a:t>
            </a:r>
          </a:p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Сумма группы &gt; 10 000 руб., тип «нестандартный»</a:t>
            </a:r>
          </a:p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Нет согласования юриста в хотя бы одном документе</a:t>
            </a:r>
          </a:p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Протокол не разрешает работу без юриста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846320"/>
          <a:ext cx="10881360" cy="2011680"/>
        </p:xfrm>
        <a:graphic>
          <a:graphicData uri="http://schemas.openxmlformats.org/drawingml/2006/table">
            <a:tbl>
              <a:tblPr firstRow="0" bandRow="0" lastRow="0">
                <a:tableStyleId>{5C22544A-7EE6-4342-B048-85BDC9FD1C3A}</a:tableStyleId>
              </a:tblPr>
              <a:tblGrid>
                <a:gridCol w="2560320"/>
                <a:gridCol w="3657600"/>
                <a:gridCol w="1828800"/>
                <a:gridCol w="28346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Договор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Поставщик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Сумма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ЗАО «Фомина, Новикова</a:t>
                      </a:r>
                      <a:br/>
                      <a:r>
                        <a:t>и Семенова»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202 715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нестандартный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доп. соглашение</a:t>
                      </a:r>
                      <a:br/>
                      <a:r>
                        <a:t>к дог. 1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ЗАО «Фомина, Новикова</a:t>
                      </a:r>
                      <a:br/>
                      <a:r>
                        <a:t>и Семенова»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121 218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нестандартный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Договор 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АО «Лазарева, Воронов</a:t>
                      </a:r>
                      <a:br/>
                      <a:r>
                        <a:t>и Шарова»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44 779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стандартный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</a:tbl>
          </a:graphicData>
        </a:graphic>
      </p:graphicFrame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Проверка 2: Дробление закупок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👤  Запрос аудитора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868680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1700">
                <a:solidFill>
                  <a:srgbClr val="FFFFFF"/>
                </a:solidFill>
                <a:latin typeface="Calibri"/>
              </a:defRPr>
            </a:pPr>
            <a:r>
              <a:t>Найди пары договоров одного поставщика со схожими предметами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4747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1 019 115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подозрительных пар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Как работает поиск: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Сравнивает предметы договоров одного поставщика</a:t>
            </a:r>
          </a:p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Нечёткий поиск: «поставка канцтоваров» и</a:t>
            </a:r>
            <a:br/>
            <a:r>
              <a:t>«поставка канцелярских принадлежностей» совпадут</a:t>
            </a:r>
          </a:p>
          <a:p>
            <a:pPr>
              <a:spcAft>
                <a:spcPts val="600"/>
              </a:spcAft>
              <a:defRPr sz="15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Аудитор просто получает готовый результат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Пример найденной пары: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120640"/>
          <a:ext cx="10881360" cy="1097280"/>
        </p:xfrm>
        <a:graphic>
          <a:graphicData uri="http://schemas.openxmlformats.org/drawingml/2006/table">
            <a:tbl>
              <a:tblPr firstRow="0" bandRow="0" lastRow="0">
                <a:tableStyleId>{5C22544A-7EE6-4342-B048-85BDC9FD1C3A}</a:tableStyleId>
              </a:tblPr>
              <a:tblGrid>
                <a:gridCol w="3200400"/>
                <a:gridCol w="3200400"/>
                <a:gridCol w="228600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Предмет договора 1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Предмет договора 2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Поставщик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Схожесть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канцелярских</a:t>
                      </a:r>
                      <a:br/>
                      <a:r>
                        <a:t>товаров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Поставка канцелярских</a:t>
                      </a:r>
                      <a:br/>
                      <a:r>
                        <a:t>принадлежностей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ООО «Офис-М»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</a:tbl>
          </a:graphicData>
        </a:graphic>
      </p:graphicFrame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Проверка 3: Систематическое дробление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D8B"/>
                </a:solidFill>
                <a:latin typeface="Calibri"/>
              </a:defRPr>
            </a:pPr>
            <a:r>
              <a:t>👤  Запрос аудитора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8686800" cy="5029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defRPr sz="1700">
                <a:solidFill>
                  <a:srgbClr val="FFFFFF"/>
                </a:solidFill>
                <a:latin typeface="Calibri"/>
              </a:defRPr>
            </a:pPr>
            <a:r>
              <a:t>Сгруппируй подозрительные договоры по поставщикам и предметам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19 801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группа с признаками</a:t>
            </a:r>
            <a:br/>
            <a:r>
              <a:t>дробления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~17,5 млрд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общая сумма</a:t>
            </a:r>
            <a:br/>
            <a:r>
              <a:t>договоров, руб.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200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28600"/>
          <a:lstStyle/>
          <a:p>
            <a:pPr algn="ctr">
              <a:defRPr sz="3600" b="1">
                <a:solidFill>
                  <a:srgbClr val="2E7D32"/>
                </a:solidFill>
                <a:latin typeface="Calibri"/>
              </a:defRPr>
            </a:pPr>
            <a:r>
              <a:t>500</a:t>
            </a:r>
          </a:p>
          <a:p>
            <a:pPr algn="ctr">
              <a:spcBef>
                <a:spcPts val="8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поставщиков</a:t>
            </a:r>
            <a:br/>
            <a:r>
              <a:t>в анализе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74F"/>
                </a:solidFill>
                <a:latin typeface="Calibri"/>
              </a:defRPr>
            </a:pPr>
            <a:r>
              <a:t>Система объединяет пары в группы: один поставщик + схожие предметы → единая группа с общей суммой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Аудитор видит картину целиком: кто, что, на какую сумму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Результаты: три проверки за минуты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6583680" cy="3108960"/>
        </p:xfrm>
        <a:graphic>
          <a:graphicData uri="http://schemas.openxmlformats.org/drawingml/2006/table">
            <a:tbl>
              <a:tblPr firstRow="0" bandRow="0" lastRow="0">
                <a:tableStyleId>{5C22544A-7EE6-4342-B048-85BDC9FD1C3A}</a:tableStyleId>
              </a:tblPr>
              <a:tblGrid>
                <a:gridCol w="1097280"/>
                <a:gridCol w="3200400"/>
                <a:gridCol w="228600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Проверка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Что искали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2E7D32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Нестандартные договоры</a:t>
                      </a:r>
                      <a:br/>
                      <a:r>
                        <a:t>без согласования юриста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21 204</a:t>
                      </a:r>
                      <a:br/>
                      <a:r>
                        <a:t>договора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Пары со схожими</a:t>
                      </a:r>
                      <a:br/>
                      <a:r>
                        <a:t>предметами у поставщика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1 019 115</a:t>
                      </a:r>
                      <a:br/>
                      <a:r>
                        <a:t>пар</a:t>
                      </a:r>
                    </a:p>
                  </a:txBody>
                  <a:tcPr anchor="ctr">
                    <a:solidFill>
                      <a:srgbClr val="F1F8F1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Группы подозрительных</a:t>
                      </a:r>
                      <a:br/>
                      <a:r>
                        <a:t>договоров по поставщикам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19 801</a:t>
                      </a:r>
                      <a:br/>
                      <a:r>
                        <a:t>группа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8E6C9"/>
                      </a:solidFill>
                    </a:lnL>
                    <a:lnR w="6350">
                      <a:solidFill>
                        <a:srgbClr val="C8E6C9"/>
                      </a:solidFill>
                    </a:lnR>
                    <a:lnT w="6350">
                      <a:solidFill>
                        <a:srgbClr val="C8E6C9"/>
                      </a:solidFill>
                    </a:lnT>
                    <a:lnB w="6350">
                      <a:solidFill>
                        <a:srgbClr val="C8E6C9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37160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Доля договоров с нарушениями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Ручная проверка заняла бы недели. Система справляется за минуты.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Преимущества для аудитора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Простота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74F"/>
                </a:solidFill>
                <a:latin typeface="Calibri"/>
              </a:defRPr>
            </a:pPr>
            <a:r>
              <a:t>Запрос на русском языке, ответ в таблице. Не нужно знать SQL или структуру базы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Скорость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74F"/>
                </a:solidFill>
                <a:latin typeface="Calibri"/>
              </a:defRPr>
            </a:pPr>
            <a:r>
              <a:t>100 000+ договоров анализируются за секунды. Новая проверка — новый вопрос, не новый проект.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Гибкость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74F"/>
                </a:solidFill>
                <a:latin typeface="Calibri"/>
              </a:defRPr>
            </a:pPr>
            <a:r>
              <a:t>Любая новая проверка без программиста. Аудитор сам формулирует, что искать.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Объяснимость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74F"/>
                </a:solidFill>
                <a:latin typeface="Calibri"/>
              </a:defRPr>
            </a:pPr>
            <a:r>
              <a:t>Каждый результат можно проверить и перепроверить. Система прозрачна.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Масштабируемость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7474F"/>
                </a:solidFill>
                <a:latin typeface="Calibri"/>
              </a:defRPr>
            </a:pPr>
            <a:r>
              <a:t>Миллионы записей — без проблем. Работает с любым объёмом данных.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Как это устроено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7D8B"/>
                </a:solidFill>
                <a:latin typeface="Calibri"/>
              </a:defRPr>
            </a:pPr>
            <a:r>
              <a:t>Для технически любопытных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37160"/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Аудитор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Задаёт вопрос</a:t>
            </a:r>
            <a:br/>
            <a:r>
              <a:t>на русском языке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880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377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37160"/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Claude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Изучает схему БД,</a:t>
            </a:r>
            <a:br/>
            <a:r>
              <a:t>генерирует запросы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880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37160"/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MCP-сервер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Безопасный доступ</a:t>
            </a:r>
            <a:br/>
            <a:r>
              <a:t>к базе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880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210312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37160"/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spcBef>
                <a:spcPts val="1200"/>
              </a:spcBef>
              <a:defRPr sz="1600">
                <a:solidFill>
                  <a:srgbClr val="37474F"/>
                </a:solidFill>
                <a:latin typeface="Calibri"/>
              </a:defRPr>
            </a:pPr>
            <a:r>
              <a:t>100K договоров,</a:t>
            </a:r>
            <a:br/>
            <a:r>
              <a:t>нечёткий 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474F"/>
                </a:solidFill>
                <a:latin typeface="Calibri"/>
              </a:defRPr>
            </a:pPr>
            <a:r>
              <a:t>Claude автоматически изучает структуру базы данных, подбирает нужные таблицы и связи, формирует запрос и возвращает аудитору понятный результат.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Аудитор работает с интерфейсом чата. Вся техническая сложность скрыта.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  <a:latin typeface="Calibri"/>
              </a:defRPr>
            </a:pPr>
            <a:r>
              <a:t>Технические детали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Структура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01752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69160"/>
            <a:ext cx="3017520" cy="1854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1200"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PK </a:t>
            </a:r>
            <a:r>
              <a:rPr sz="1200" b="1">
                <a:solidFill>
                  <a:srgbClr val="1B5E20"/>
                </a:solidFill>
                <a:latin typeface="Calibri"/>
              </a:rPr>
              <a:t>protocol_id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protocol_number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protocol_date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approved_amount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protocol_text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01752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69160"/>
            <a:ext cx="3017520" cy="1854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1200"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PK </a:t>
            </a:r>
            <a:r>
              <a:rPr sz="1200" b="1">
                <a:solidFill>
                  <a:srgbClr val="1B5E20"/>
                </a:solidFill>
                <a:latin typeface="Calibri"/>
              </a:rPr>
              <a:t>contract_id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contract_number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amount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contract_type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supplier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subject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FK </a:t>
            </a:r>
            <a:r>
              <a:rPr sz="1200" b="0">
                <a:solidFill>
                  <a:srgbClr val="1B5E20"/>
                </a:solidFill>
                <a:latin typeface="Calibri"/>
              </a:rPr>
              <a:t>protocol_id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737360"/>
            <a:ext cx="3017520" cy="45720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169160"/>
            <a:ext cx="3017520" cy="1854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1200"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PK </a:t>
            </a:r>
            <a:r>
              <a:rPr sz="1200" b="1">
                <a:solidFill>
                  <a:srgbClr val="1B5E20"/>
                </a:solidFill>
                <a:latin typeface="Calibri"/>
              </a:rPr>
              <a:t>approval_id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latin typeface="Calibri"/>
              </a:defRPr>
            </a:pPr>
            <a:r>
              <a:rPr sz="1100" b="1">
                <a:solidFill>
                  <a:srgbClr val="2E7D32"/>
                </a:solidFill>
                <a:latin typeface="Calibri"/>
              </a:rPr>
              <a:t>FK </a:t>
            </a:r>
            <a:r>
              <a:rPr sz="1200" b="0">
                <a:solidFill>
                  <a:srgbClr val="1B5E20"/>
                </a:solidFill>
                <a:latin typeface="Calibri"/>
              </a:rPr>
              <a:t>contract_id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fin_director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lawyer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security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200">
                <a:solidFill>
                  <a:srgbClr val="37474F"/>
                </a:solidFill>
                <a:latin typeface="Calibri"/>
              </a:defRPr>
            </a:pPr>
            <a:r>
              <a:t>   procurement_head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7D8B"/>
                </a:solidFill>
                <a:latin typeface="Calibri"/>
              </a:defRPr>
            </a:pPr>
            <a:r>
              <a:t>protocol_id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7D8B"/>
                </a:solidFill>
                <a:latin typeface="Calibri"/>
              </a:defRPr>
            </a:pPr>
            <a:r>
              <a:t>contract_id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Ключевые технологии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pg_trgm — нечёткий поиск по предмету договора (similarity &gt; 0.3)</a:t>
            </a:r>
          </a:p>
          <a:p>
            <a:pPr>
              <a:spcAft>
                <a:spcPts val="600"/>
              </a:spcAft>
              <a:defRPr sz="16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Группировка ДС: извлечение номера из 18 текстовых форматов</a:t>
            </a:r>
          </a:p>
          <a:p>
            <a:pPr>
              <a:spcAft>
                <a:spcPts val="600"/>
              </a:spcAft>
              <a:defRPr sz="1600">
                <a:solidFill>
                  <a:srgbClr val="37474F"/>
                </a:solidFill>
                <a:latin typeface="Calibri"/>
              </a:defRPr>
              <a:buChar char="●"/>
              <a:buClr>
                <a:srgbClr val="2E7D32"/>
              </a:buClr>
            </a:pPr>
            <a:r>
              <a:t>GIN-индекс для ускорения триграммных запросов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Настройка: 1 день   ·   Поддержка: минимальная   ·   Масштабирование: автоматическое</a:t>
            </a:r>
          </a:p>
        </p:txBody>
      </p:sp>
    </p:spTree>
    <p:bgPr>
      <a:gradFill>
        <a:gsLst>
          <a:gs pos="0">
            <a:srgbClr val="E8F5E9"/>
          </a:gs>
          <a:gs pos="100000">
            <a:srgbClr val="FFFFFF"/>
          </a:gs>
        </a:gsLst>
        <a:lin ang="5400000" scaled="1"/>
      </a:gradFill>
      <a:effectLst/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